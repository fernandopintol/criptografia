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2"/>
  </p:sldMasterIdLst>
  <p:notesMasterIdLst>
    <p:notesMasterId r:id="rId27"/>
  </p:notesMasterIdLst>
  <p:sldIdLst>
    <p:sldId id="275" r:id="rId3"/>
    <p:sldId id="265" r:id="rId4"/>
    <p:sldId id="256" r:id="rId5"/>
    <p:sldId id="258" r:id="rId6"/>
    <p:sldId id="283" r:id="rId7"/>
    <p:sldId id="284" r:id="rId8"/>
    <p:sldId id="285" r:id="rId9"/>
    <p:sldId id="286" r:id="rId10"/>
    <p:sldId id="287" r:id="rId11"/>
    <p:sldId id="261" r:id="rId12"/>
    <p:sldId id="291" r:id="rId13"/>
    <p:sldId id="289" r:id="rId14"/>
    <p:sldId id="290" r:id="rId15"/>
    <p:sldId id="292" r:id="rId16"/>
    <p:sldId id="281" r:id="rId17"/>
    <p:sldId id="282" r:id="rId18"/>
    <p:sldId id="259" r:id="rId19"/>
    <p:sldId id="260" r:id="rId20"/>
    <p:sldId id="288" r:id="rId21"/>
    <p:sldId id="263" r:id="rId22"/>
    <p:sldId id="264" r:id="rId23"/>
    <p:sldId id="280" r:id="rId24"/>
    <p:sldId id="266" r:id="rId25"/>
    <p:sldId id="267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 rot="5400000">
            <a:off x="4583430" y="-3265805"/>
            <a:ext cx="84455" cy="799020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1828800" y="36703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BO" altLang="en-US" sz="1000" b="1" kern="0" spc="400" dirty="0">
                <a:solidFill>
                  <a:srgbClr val="4FC3F7"/>
                </a:solidFill>
              </a:rPr>
              <a:t>UNIVERSIDAD AUTÓNOMA GABRIEL RENÉ MORENO</a:t>
            </a:r>
          </a:p>
        </p:txBody>
      </p:sp>
      <p:sp>
        <p:nvSpPr>
          <p:cNvPr id="6" name="Text 4"/>
          <p:cNvSpPr/>
          <p:nvPr/>
        </p:nvSpPr>
        <p:spPr>
          <a:xfrm>
            <a:off x="685800" y="1532255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BO" alt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Sistema Interactivo de Criptografía Clasica</a:t>
            </a:r>
          </a:p>
        </p:txBody>
      </p:sp>
      <p:sp>
        <p:nvSpPr>
          <p:cNvPr id="7" name="Text 5"/>
          <p:cNvSpPr/>
          <p:nvPr/>
        </p:nvSpPr>
        <p:spPr>
          <a:xfrm>
            <a:off x="1463040" y="81661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BO" altLang="en-US" sz="1500" i="1" dirty="0">
                <a:solidFill>
                  <a:srgbClr val="B0C4DE"/>
                </a:solidFill>
              </a:rPr>
              <a:t>Facultad de Ingeniería en Ciencias de la Computación y Telecomunicaciones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4013200"/>
            <a:ext cx="7696835" cy="624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s-BO" altLang="en-US" sz="1200" b="1" kern="0" spc="300" dirty="0">
                <a:solidFill>
                  <a:schemeClr val="bg1"/>
                </a:solidFill>
                <a:latin typeface="Century Schoolbook" panose="02040604050505020304" charset="0"/>
                <a:cs typeface="Century Schoolbook" panose="02040604050505020304" charset="0"/>
              </a:rPr>
              <a:t>INTEGRANTES: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es-ES" sz="1200" b="1" kern="0" spc="300" dirty="0">
                <a:solidFill>
                  <a:schemeClr val="bg1"/>
                </a:solidFill>
                <a:latin typeface="Century Schoolbook" panose="02040604050505020304" charset="0"/>
                <a:cs typeface="Century Schoolbook" panose="02040604050505020304" charset="0"/>
              </a:rPr>
              <a:t>Fernando Pinto Lino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n-US" altLang="es-ES" sz="1200" b="1" kern="0" spc="300" dirty="0">
                <a:solidFill>
                  <a:schemeClr val="bg1"/>
                </a:solidFill>
                <a:latin typeface="Century Schoolbook" panose="02040604050505020304" charset="0"/>
                <a:cs typeface="Century Schoolbook" panose="02040604050505020304" charset="0"/>
              </a:rPr>
              <a:t>Kevin Mauricio Fuentes Jaimes</a:t>
            </a:r>
          </a:p>
          <a:p>
            <a:pPr marL="228600" indent="-228600" algn="l">
              <a:buFont typeface="Arial" panose="020B0604020202020204" pitchFamily="34" charset="0"/>
              <a:buChar char="•"/>
            </a:pPr>
            <a:r>
              <a:rPr lang="es-BO" altLang="en-US" sz="1200" b="1" kern="0" spc="300" dirty="0">
                <a:solidFill>
                  <a:schemeClr val="bg1"/>
                </a:solidFill>
                <a:latin typeface="Century Schoolbook" panose="02040604050505020304" charset="0"/>
                <a:cs typeface="Century Schoolbook" panose="02040604050505020304" charset="0"/>
              </a:rPr>
              <a:t>Melody Alejandra Montero Villarpando</a:t>
            </a:r>
            <a:endParaRPr lang="en-US" altLang="es-ES" sz="1200" b="1" kern="0" spc="300" dirty="0">
              <a:solidFill>
                <a:schemeClr val="bg1"/>
              </a:solidFill>
              <a:latin typeface="Century Schoolbook" panose="02040604050505020304" charset="0"/>
              <a:cs typeface="Century Schoolbook" panose="02040604050505020304" charset="0"/>
            </a:endParaRPr>
          </a:p>
          <a:p>
            <a:pPr marL="0" indent="0" algn="l">
              <a:buNone/>
            </a:pPr>
            <a:endParaRPr lang="en-US" altLang="es-ES" sz="1200" b="1" kern="0" spc="300" dirty="0">
              <a:solidFill>
                <a:schemeClr val="bg1"/>
              </a:solidFill>
              <a:latin typeface="Century Schoolbook" panose="02040604050505020304" charset="0"/>
              <a:cs typeface="Century Schoolbook" panose="02040604050505020304" charset="0"/>
            </a:endParaRPr>
          </a:p>
        </p:txBody>
      </p:sp>
      <p:sp>
        <p:nvSpPr>
          <p:cNvPr id="2" name="Shape 2"/>
          <p:cNvSpPr/>
          <p:nvPr/>
        </p:nvSpPr>
        <p:spPr>
          <a:xfrm rot="5400000">
            <a:off x="4583430" y="806450"/>
            <a:ext cx="84455" cy="7990205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1"/>
          <p:cNvSpPr/>
          <p:nvPr/>
        </p:nvSpPr>
        <p:spPr>
          <a:xfrm>
            <a:off x="365760" y="1020445"/>
            <a:ext cx="8412480" cy="746760"/>
          </a:xfrm>
          <a:prstGeom prst="rect">
            <a:avLst/>
          </a:prstGeom>
          <a:solidFill>
            <a:schemeClr val="bg1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BO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ell MT" panose="02020503060305020303" charset="0"/>
                <a:ea typeface="+mn-ea"/>
                <a:cs typeface="Bell MT" panose="02020503060305020303" charset="0"/>
              </a:rPr>
              <a:t>INTRODUCCIÓN</a:t>
            </a:r>
          </a:p>
        </p:txBody>
      </p:sp>
      <p:sp>
        <p:nvSpPr>
          <p:cNvPr id="4" name="Shape 2"/>
          <p:cNvSpPr/>
          <p:nvPr/>
        </p:nvSpPr>
        <p:spPr>
          <a:xfrm>
            <a:off x="182880" y="1931670"/>
            <a:ext cx="2834640" cy="3123565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874520"/>
            <a:ext cx="2834640" cy="64008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17220" y="1920494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BO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OBJETIVO GENERAL</a:t>
            </a:r>
          </a:p>
        </p:txBody>
      </p:sp>
      <p:sp>
        <p:nvSpPr>
          <p:cNvPr id="8" name="Text 6"/>
          <p:cNvSpPr/>
          <p:nvPr/>
        </p:nvSpPr>
        <p:spPr>
          <a:xfrm>
            <a:off x="320040" y="2596515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Desarrollar un sistema interactivo de criptograf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í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cl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sica que permita implementar, analizar y comparar distintos 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todos de cifrado y criptoan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lisis.</a:t>
            </a:r>
          </a:p>
        </p:txBody>
      </p:sp>
      <p:sp>
        <p:nvSpPr>
          <p:cNvPr id="11" name="Shape 9"/>
          <p:cNvSpPr/>
          <p:nvPr/>
        </p:nvSpPr>
        <p:spPr>
          <a:xfrm>
            <a:off x="3104515" y="1928495"/>
            <a:ext cx="2834640" cy="31267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04388" y="1847215"/>
            <a:ext cx="2834640" cy="64008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85083" y="1938909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BO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HERRAMIENTAS UTILIZADAS</a:t>
            </a:r>
          </a:p>
        </p:txBody>
      </p:sp>
      <p:sp>
        <p:nvSpPr>
          <p:cNvPr id="15" name="Text 13"/>
          <p:cNvSpPr/>
          <p:nvPr/>
        </p:nvSpPr>
        <p:spPr>
          <a:xfrm>
            <a:off x="3310128" y="2596515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Streamlit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Matem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tica modular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Algoritmos cl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sicos de criptograf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í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8" name="Shape 16"/>
          <p:cNvSpPr/>
          <p:nvPr/>
        </p:nvSpPr>
        <p:spPr>
          <a:xfrm>
            <a:off x="6163310" y="1958975"/>
            <a:ext cx="2834640" cy="3096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1874520"/>
            <a:ext cx="2834640" cy="640080"/>
          </a:xfrm>
          <a:prstGeom prst="rect">
            <a:avLst/>
          </a:prstGeom>
          <a:solidFill>
            <a:srgbClr val="B06DFF"/>
          </a:solidFill>
          <a:ln w="12700">
            <a:solidFill>
              <a:srgbClr val="B06D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97650" y="1920240"/>
            <a:ext cx="1965960" cy="55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s-BO" alt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EJERCICIOS DESARROLLADOS</a:t>
            </a:r>
          </a:p>
        </p:txBody>
      </p:sp>
      <p:sp>
        <p:nvSpPr>
          <p:cNvPr id="22" name="Text 20"/>
          <p:cNvSpPr/>
          <p:nvPr/>
        </p:nvSpPr>
        <p:spPr>
          <a:xfrm>
            <a:off x="6300216" y="2596515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Validaci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ó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de constantes criptogr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ficas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Generaci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ó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 de alfabetos mixtos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Criptoan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á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lisis por ecuaciones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Comparador C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sar vs Af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í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Cifrado Vigen</a:t>
            </a:r>
            <a:r>
              <a:rPr kumimoji="0" lang="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è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</a:t>
            </a:r>
            <a:r>
              <a:rPr kumimoji="0" lang="en-US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é</a:t>
            </a:r>
            <a:r>
              <a:rPr kumimoji="0" lang="en-US" altLang="es-ES" sz="1400" b="0" i="0" u="none" strike="noStrike" kern="120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todo de Kasiski</a:t>
            </a:r>
          </a:p>
        </p:txBody>
      </p:sp>
      <p:sp>
        <p:nvSpPr>
          <p:cNvPr id="26" name="Text 2"/>
          <p:cNvSpPr/>
          <p:nvPr/>
        </p:nvSpPr>
        <p:spPr>
          <a:xfrm>
            <a:off x="616585" y="1018540"/>
            <a:ext cx="7920355" cy="797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400" i="1" dirty="0">
                <a:solidFill>
                  <a:schemeClr val="accent5"/>
                </a:solidFill>
              </a:rPr>
              <a:t>La criptograf</a:t>
            </a:r>
            <a:r>
              <a:rPr lang="en-US" altLang="en-US" sz="1400" i="1" dirty="0">
                <a:solidFill>
                  <a:schemeClr val="accent5"/>
                </a:solidFill>
              </a:rPr>
              <a:t>í</a:t>
            </a:r>
            <a:r>
              <a:rPr lang="en-US" altLang="es-ES" sz="1400" i="1" dirty="0">
                <a:solidFill>
                  <a:schemeClr val="accent5"/>
                </a:solidFill>
              </a:rPr>
              <a:t>a cl</a:t>
            </a:r>
            <a:r>
              <a:rPr lang="en-US" altLang="en-US" sz="1400" i="1" dirty="0">
                <a:solidFill>
                  <a:schemeClr val="accent5"/>
                </a:solidFill>
              </a:rPr>
              <a:t>á</a:t>
            </a:r>
            <a:r>
              <a:rPr lang="en-US" altLang="es-ES" sz="1400" i="1" dirty="0">
                <a:solidFill>
                  <a:schemeClr val="accent5"/>
                </a:solidFill>
              </a:rPr>
              <a:t>sica permite proteger informaci</a:t>
            </a:r>
            <a:r>
              <a:rPr lang="en-US" altLang="en-US" sz="1400" i="1" dirty="0">
                <a:solidFill>
                  <a:schemeClr val="accent5"/>
                </a:solidFill>
              </a:rPr>
              <a:t>ó</a:t>
            </a:r>
            <a:r>
              <a:rPr lang="en-US" altLang="es-ES" sz="1400" i="1" dirty="0">
                <a:solidFill>
                  <a:schemeClr val="accent5"/>
                </a:solidFill>
              </a:rPr>
              <a:t>n mediante cifrados matem</a:t>
            </a:r>
            <a:r>
              <a:rPr lang="en-US" altLang="en-US" sz="1400" i="1" dirty="0">
                <a:solidFill>
                  <a:schemeClr val="accent5"/>
                </a:solidFill>
              </a:rPr>
              <a:t>á</a:t>
            </a:r>
            <a:r>
              <a:rPr lang="en-US" altLang="es-ES" sz="1400" i="1" dirty="0">
                <a:solidFill>
                  <a:schemeClr val="accent5"/>
                </a:solidFill>
              </a:rPr>
              <a:t>ticos.</a:t>
            </a:r>
            <a:r>
              <a:rPr lang="es-BO" altLang="en-US" sz="1400" i="1" dirty="0">
                <a:solidFill>
                  <a:schemeClr val="accent5"/>
                </a:solidFill>
              </a:rPr>
              <a:t> </a:t>
            </a:r>
            <a:r>
              <a:rPr lang="en-US" altLang="es-ES" sz="1400" i="1" dirty="0">
                <a:solidFill>
                  <a:schemeClr val="accent5"/>
                </a:solidFill>
              </a:rPr>
              <a:t>En este proyecto se desarroll</a:t>
            </a:r>
            <a:r>
              <a:rPr lang="en-US" altLang="en-US" sz="1400" i="1" dirty="0">
                <a:solidFill>
                  <a:schemeClr val="accent5"/>
                </a:solidFill>
              </a:rPr>
              <a:t>ó</a:t>
            </a:r>
            <a:r>
              <a:rPr lang="en-US" altLang="es-ES" sz="1400" i="1" dirty="0">
                <a:solidFill>
                  <a:schemeClr val="accent5"/>
                </a:solidFill>
              </a:rPr>
              <a:t> una herramienta interactiva en Python y Streamlit.</a:t>
            </a:r>
            <a:r>
              <a:rPr lang="es-BO" altLang="en-US" sz="1400" i="1" dirty="0">
                <a:solidFill>
                  <a:schemeClr val="accent5"/>
                </a:solidFill>
              </a:rPr>
              <a:t> </a:t>
            </a:r>
            <a:r>
              <a:rPr lang="en-US" altLang="es-ES" sz="1400" i="1" dirty="0">
                <a:solidFill>
                  <a:schemeClr val="accent5"/>
                </a:solidFill>
              </a:rPr>
              <a:t>El sistema implementa algoritmos cl</a:t>
            </a:r>
            <a:r>
              <a:rPr lang="en-US" altLang="en-US" sz="1400" i="1" dirty="0">
                <a:solidFill>
                  <a:schemeClr val="accent5"/>
                </a:solidFill>
              </a:rPr>
              <a:t>á</a:t>
            </a:r>
            <a:r>
              <a:rPr lang="en-US" altLang="es-ES" sz="1400" i="1" dirty="0">
                <a:solidFill>
                  <a:schemeClr val="accent5"/>
                </a:solidFill>
              </a:rPr>
              <a:t>sicos y t</a:t>
            </a:r>
            <a:r>
              <a:rPr lang="en-US" altLang="en-US" sz="1400" i="1" dirty="0">
                <a:solidFill>
                  <a:schemeClr val="accent5"/>
                </a:solidFill>
              </a:rPr>
              <a:t>é</a:t>
            </a:r>
            <a:r>
              <a:rPr lang="en-US" altLang="es-ES" sz="1400" i="1" dirty="0">
                <a:solidFill>
                  <a:schemeClr val="accent5"/>
                </a:solidFill>
              </a:rPr>
              <a:t>cnicas de criptoan</a:t>
            </a:r>
            <a:r>
              <a:rPr lang="en-US" altLang="en-US" sz="1400" i="1" dirty="0">
                <a:solidFill>
                  <a:schemeClr val="accent5"/>
                </a:solidFill>
              </a:rPr>
              <a:t>á</a:t>
            </a:r>
            <a:r>
              <a:rPr lang="en-US" altLang="es-ES" sz="1400" i="1" dirty="0">
                <a:solidFill>
                  <a:schemeClr val="accent5"/>
                </a:solidFill>
              </a:rPr>
              <a:t>lisis.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013460"/>
            <a:ext cx="76200" cy="27355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98869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CRIPTOGRAFÍA CLÁSICA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Validador de Constante de Decimaci</a:t>
            </a:r>
            <a:r>
              <a:rPr lang="en-US" alt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ó</a:t>
            </a: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n 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A4A6A"/>
                </a:solidFill>
              </a:rPr>
              <a:t>Z C W S · X H P Q · N F A M · B R T V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/>
          <p:cNvSpPr/>
          <p:nvPr/>
        </p:nvSpPr>
        <p:spPr>
          <a:xfrm>
            <a:off x="365760" y="934720"/>
            <a:ext cx="8298815" cy="1913255"/>
          </a:xfrm>
          <a:prstGeom prst="rect">
            <a:avLst/>
          </a:prstGeom>
          <a:solidFill>
            <a:srgbClr val="102030"/>
          </a:solidFill>
          <a:ln w="12700">
            <a:solidFill>
              <a:srgbClr val="FF000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Text 0"/>
          <p:cNvSpPr/>
          <p:nvPr/>
        </p:nvSpPr>
        <p:spPr>
          <a:xfrm>
            <a:off x="354330" y="29159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¿En que se basa?</a:t>
            </a:r>
          </a:p>
        </p:txBody>
      </p:sp>
      <p:sp>
        <p:nvSpPr>
          <p:cNvPr id="3" name="Shape 1"/>
          <p:cNvSpPr/>
          <p:nvPr/>
        </p:nvSpPr>
        <p:spPr>
          <a:xfrm>
            <a:off x="354330" y="3578860"/>
            <a:ext cx="8310245" cy="1188085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15620" y="3550285"/>
            <a:ext cx="7998460" cy="1215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El validador se basa en el c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lculo del M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ximo Com</a:t>
            </a:r>
            <a:r>
              <a:rPr lang="en-US" altLang="en-US" sz="1400" dirty="0">
                <a:solidFill>
                  <a:schemeClr val="accent5"/>
                </a:solidFill>
              </a:rPr>
              <a:t>ú</a:t>
            </a:r>
            <a:r>
              <a:rPr lang="en-US" altLang="es-ES" sz="1400" dirty="0">
                <a:solidFill>
                  <a:schemeClr val="accent5"/>
                </a:solidFill>
              </a:rPr>
              <a:t>n Divisor (MCD) entre a y el tama</a:t>
            </a:r>
            <a:r>
              <a:rPr lang="en-US" altLang="en-US" sz="1400" dirty="0">
                <a:solidFill>
                  <a:schemeClr val="accent5"/>
                </a:solidFill>
              </a:rPr>
              <a:t>ñ</a:t>
            </a:r>
            <a:r>
              <a:rPr lang="en-US" altLang="es-ES" sz="1400" dirty="0">
                <a:solidFill>
                  <a:schemeClr val="accent5"/>
                </a:solidFill>
              </a:rPr>
              <a:t>o del alfabeto n.</a:t>
            </a:r>
          </a:p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Si:</a:t>
            </a:r>
          </a:p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gcd(a,n)=1</a:t>
            </a:r>
          </a:p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entonces a es coprimo con n, existe inverso modular y el cifrado Af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n puede funcionar correctamente.</a:t>
            </a:r>
          </a:p>
        </p:txBody>
      </p:sp>
      <p:sp>
        <p:nvSpPr>
          <p:cNvPr id="16" name="Text 2"/>
          <p:cNvSpPr/>
          <p:nvPr/>
        </p:nvSpPr>
        <p:spPr>
          <a:xfrm>
            <a:off x="616585" y="1148080"/>
            <a:ext cx="8145145" cy="16992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400" dirty="0">
                <a:solidFill>
                  <a:srgbClr val="C00000"/>
                </a:solidFill>
              </a:rPr>
              <a:t>El validador de constante de decimaci</a:t>
            </a:r>
            <a:r>
              <a:rPr lang="en-US" altLang="en-US" sz="1400" dirty="0">
                <a:solidFill>
                  <a:srgbClr val="C00000"/>
                </a:solidFill>
              </a:rPr>
              <a:t>ó</a:t>
            </a:r>
            <a:r>
              <a:rPr lang="en-US" altLang="es-ES" sz="1400" dirty="0">
                <a:solidFill>
                  <a:srgbClr val="C00000"/>
                </a:solidFill>
              </a:rPr>
              <a:t>n permite verificar de forma autom</a:t>
            </a:r>
            <a:r>
              <a:rPr lang="en-US" altLang="en-US" sz="1400" dirty="0">
                <a:solidFill>
                  <a:srgbClr val="C00000"/>
                </a:solidFill>
              </a:rPr>
              <a:t>á</a:t>
            </a:r>
            <a:r>
              <a:rPr lang="en-US" altLang="es-ES" sz="1400" dirty="0">
                <a:solidFill>
                  <a:srgbClr val="C00000"/>
                </a:solidFill>
              </a:rPr>
              <a:t>tica si una constante puede utilizarse en sistemas de cifrado modular. </a:t>
            </a:r>
          </a:p>
          <a:p>
            <a:pPr marL="0" indent="0" algn="l">
              <a:buNone/>
            </a:pPr>
            <a:r>
              <a:rPr lang="en-US" altLang="es-ES" sz="1400" dirty="0">
                <a:solidFill>
                  <a:srgbClr val="C00000"/>
                </a:solidFill>
              </a:rPr>
              <a:t>Este proceso: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rgbClr val="C00000"/>
                </a:solidFill>
              </a:rPr>
              <a:t>Previene errores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rgbClr val="C00000"/>
                </a:solidFill>
              </a:rPr>
              <a:t>Garantiza el correcto funcionamiento del cifrado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rgbClr val="C00000"/>
                </a:solidFill>
              </a:rPr>
              <a:t>Asegura la posibilidad de descifrar la informaci</a:t>
            </a:r>
            <a:r>
              <a:rPr lang="en-US" altLang="en-US" sz="1400" dirty="0">
                <a:solidFill>
                  <a:srgbClr val="C00000"/>
                </a:solidFill>
              </a:rPr>
              <a:t>ó</a:t>
            </a:r>
            <a:r>
              <a:rPr lang="en-US" altLang="es-ES" sz="1400" dirty="0">
                <a:solidFill>
                  <a:srgbClr val="C00000"/>
                </a:solidFill>
              </a:rPr>
              <a:t>n </a:t>
            </a:r>
          </a:p>
          <a:p>
            <a:pPr marL="0" indent="0" algn="l">
              <a:buNone/>
            </a:pPr>
            <a:r>
              <a:rPr lang="en-US" altLang="es-ES" sz="1400" dirty="0">
                <a:solidFill>
                  <a:srgbClr val="C00000"/>
                </a:solidFill>
              </a:rPr>
              <a:t>Por lo tanto, es una herramienta fundamental en la implementaci</a:t>
            </a:r>
            <a:r>
              <a:rPr lang="en-US" altLang="en-US" sz="1400" dirty="0">
                <a:solidFill>
                  <a:srgbClr val="C00000"/>
                </a:solidFill>
              </a:rPr>
              <a:t>ó</a:t>
            </a:r>
            <a:r>
              <a:rPr lang="en-US" altLang="es-ES" sz="1400" dirty="0">
                <a:solidFill>
                  <a:srgbClr val="C00000"/>
                </a:solidFill>
              </a:rPr>
              <a:t>n de algoritmos criptogr</a:t>
            </a:r>
            <a:r>
              <a:rPr lang="en-US" altLang="en-US" sz="1400" dirty="0">
                <a:solidFill>
                  <a:srgbClr val="C00000"/>
                </a:solidFill>
              </a:rPr>
              <a:t>á</a:t>
            </a:r>
            <a:r>
              <a:rPr lang="en-US" altLang="es-ES" sz="1400" dirty="0">
                <a:solidFill>
                  <a:srgbClr val="C00000"/>
                </a:solidFill>
              </a:rPr>
              <a:t>ficos. </a:t>
            </a:r>
          </a:p>
          <a:p>
            <a:pPr marL="0" indent="0" algn="l">
              <a:buNone/>
            </a:pPr>
            <a:endParaRPr lang="en-US" altLang="es-ES" sz="1400" dirty="0">
              <a:solidFill>
                <a:srgbClr val="C00000"/>
              </a:solidFill>
            </a:endParaRPr>
          </a:p>
        </p:txBody>
      </p:sp>
      <p:sp>
        <p:nvSpPr>
          <p:cNvPr id="19" name="Text 0"/>
          <p:cNvSpPr/>
          <p:nvPr/>
        </p:nvSpPr>
        <p:spPr>
          <a:xfrm>
            <a:off x="365760" y="33528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¿Que hace?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"/>
          <p:cNvSpPr/>
          <p:nvPr/>
        </p:nvSpPr>
        <p:spPr>
          <a:xfrm>
            <a:off x="365760" y="3049270"/>
            <a:ext cx="3977640" cy="1873885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Función del módulo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97585"/>
            <a:ext cx="3977640" cy="1873885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922020"/>
            <a:ext cx="3693795" cy="1949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Verifica si el valor a tiene inverso modular.</a:t>
            </a:r>
          </a:p>
          <a:p>
            <a:pPr marL="0" indent="0" algn="l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Comprueba si:</a:t>
            </a:r>
          </a:p>
          <a:p>
            <a:pPr marL="0" indent="0" algn="l">
              <a:buNone/>
            </a:pPr>
            <a:endParaRPr lang="en-US" altLang="es-ES" sz="1400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s-BO" altLang="en-US" sz="1400" dirty="0">
                <a:solidFill>
                  <a:schemeClr val="accent5"/>
                </a:solidFill>
              </a:rPr>
              <a:t>m</a:t>
            </a:r>
            <a:r>
              <a:rPr lang="en-US" altLang="es-ES" sz="1400" dirty="0">
                <a:solidFill>
                  <a:schemeClr val="accent5"/>
                </a:solidFill>
              </a:rPr>
              <a:t>cd(a,n)=1</a:t>
            </a:r>
          </a:p>
          <a:p>
            <a:pPr marL="0" indent="0" algn="l">
              <a:buNone/>
            </a:pPr>
            <a:endParaRPr lang="en-US" altLang="es-ES" sz="1400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Determina si el cifrado Af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n puede utilizarse correctamente.</a:t>
            </a:r>
          </a:p>
        </p:txBody>
      </p:sp>
      <p:sp>
        <p:nvSpPr>
          <p:cNvPr id="16" name="Text 2"/>
          <p:cNvSpPr/>
          <p:nvPr/>
        </p:nvSpPr>
        <p:spPr>
          <a:xfrm>
            <a:off x="502920" y="3000375"/>
            <a:ext cx="3693795" cy="1949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Validaciones realizadas</a:t>
            </a:r>
          </a:p>
          <a:p>
            <a:pPr marL="0" indent="0" algn="l">
              <a:buNone/>
            </a:pPr>
            <a:endParaRPr lang="en-US" altLang="es-ES" sz="1400" dirty="0">
              <a:solidFill>
                <a:schemeClr val="accent5"/>
              </a:solidFill>
            </a:endParaRPr>
          </a:p>
          <a:p>
            <a:pPr marL="0" indent="0" algn="l">
              <a:buNone/>
            </a:pPr>
            <a:r>
              <a:rPr lang="en-US" altLang="en-US" sz="1400" dirty="0">
                <a:solidFill>
                  <a:schemeClr val="accent5"/>
                </a:solidFill>
              </a:rPr>
              <a:t>✔</a:t>
            </a:r>
            <a:r>
              <a:rPr lang="en-US" altLang="es-ES" sz="1400" dirty="0">
                <a:solidFill>
                  <a:schemeClr val="accent5"/>
                </a:solidFill>
              </a:rPr>
              <a:t> Valores coprimos</a:t>
            </a:r>
          </a:p>
          <a:p>
            <a:pPr marL="0" indent="0" algn="l">
              <a:buNone/>
            </a:pPr>
            <a:r>
              <a:rPr lang="en-US" altLang="en-US" sz="1400" dirty="0">
                <a:solidFill>
                  <a:schemeClr val="accent5"/>
                </a:solidFill>
              </a:rPr>
              <a:t>✔</a:t>
            </a:r>
            <a:r>
              <a:rPr lang="en-US" altLang="es-ES" sz="1400" dirty="0">
                <a:solidFill>
                  <a:schemeClr val="accent5"/>
                </a:solidFill>
              </a:rPr>
              <a:t> Inverso modular</a:t>
            </a:r>
          </a:p>
          <a:p>
            <a:pPr marL="0" indent="0" algn="l">
              <a:buNone/>
            </a:pPr>
            <a:r>
              <a:rPr lang="en-US" altLang="en-US" sz="1400" dirty="0">
                <a:solidFill>
                  <a:schemeClr val="accent5"/>
                </a:solidFill>
              </a:rPr>
              <a:t>✔</a:t>
            </a:r>
            <a:r>
              <a:rPr lang="en-US" altLang="es-ES" sz="1400" dirty="0">
                <a:solidFill>
                  <a:schemeClr val="accent5"/>
                </a:solidFill>
              </a:rPr>
              <a:t> Entradas inv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lidas</a:t>
            </a:r>
          </a:p>
          <a:p>
            <a:pPr marL="0" indent="0" algn="l">
              <a:buNone/>
            </a:pPr>
            <a:r>
              <a:rPr lang="en-US" altLang="en-US" sz="1400" dirty="0">
                <a:solidFill>
                  <a:schemeClr val="accent5"/>
                </a:solidFill>
              </a:rPr>
              <a:t>✔</a:t>
            </a:r>
            <a:r>
              <a:rPr lang="en-US" altLang="es-ES" sz="1400" dirty="0">
                <a:solidFill>
                  <a:schemeClr val="accent5"/>
                </a:solidFill>
              </a:rPr>
              <a:t> M</a:t>
            </a:r>
            <a:r>
              <a:rPr lang="en-US" altLang="en-US" sz="1400" dirty="0">
                <a:solidFill>
                  <a:schemeClr val="accent5"/>
                </a:solidFill>
              </a:rPr>
              <a:t>ó</a:t>
            </a:r>
            <a:r>
              <a:rPr lang="en-US" altLang="es-ES" sz="1400" dirty="0">
                <a:solidFill>
                  <a:schemeClr val="accent5"/>
                </a:solidFill>
              </a:rPr>
              <a:t>dulos distintos</a:t>
            </a:r>
          </a:p>
        </p:txBody>
      </p:sp>
      <p:pic>
        <p:nvPicPr>
          <p:cNvPr id="18" name="Imagen 17" descr="Captura de pantalla (87)"/>
          <p:cNvPicPr>
            <a:picLocks noChangeAspect="1"/>
          </p:cNvPicPr>
          <p:nvPr/>
        </p:nvPicPr>
        <p:blipFill>
          <a:blip r:embed="rId3"/>
          <a:srcRect l="26215" t="5311" r="26424" b="12599"/>
          <a:stretch>
            <a:fillRect/>
          </a:stretch>
        </p:blipFill>
        <p:spPr>
          <a:xfrm>
            <a:off x="4653915" y="868680"/>
            <a:ext cx="4032885" cy="39300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013460"/>
            <a:ext cx="76200" cy="27355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98869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CRIPTOGRAFÍA CLÁSICA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Generador de Alfabetos Mixtos 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A4A6A"/>
                </a:solidFill>
              </a:rPr>
              <a:t>Z C W S · X H P Q · N F A M · B R T V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¿Que hace?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97585"/>
            <a:ext cx="8310245" cy="1298575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059180"/>
            <a:ext cx="7998460" cy="121539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El generador de alfabetos mixtos permite crear alfabetos personalizados a partir de una palabra clave. Este tipo de t</a:t>
            </a:r>
            <a:r>
              <a:rPr lang="en-US" altLang="en-US" sz="1400" dirty="0">
                <a:solidFill>
                  <a:schemeClr val="accent5"/>
                </a:solidFill>
              </a:rPr>
              <a:t>é</a:t>
            </a:r>
            <a:r>
              <a:rPr lang="en-US" altLang="es-ES" sz="1400" dirty="0">
                <a:solidFill>
                  <a:schemeClr val="accent5"/>
                </a:solidFill>
              </a:rPr>
              <a:t>cnica se utiliza en criptograf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a cl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sica para dificultar el an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lisis de frecuencia y modificar el orden tradicional de los caracteres del alfabeto.</a:t>
            </a:r>
          </a:p>
          <a:p>
            <a:pPr marL="0" indent="0" algn="ctr"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El sistema implementado genera autom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ticamente un nuevo alfabeto eliminando caracteres repetidos y completando posteriormente con los s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mbolos restantes del alfabeto base seleccionado.</a:t>
            </a:r>
          </a:p>
        </p:txBody>
      </p:sp>
      <p:pic>
        <p:nvPicPr>
          <p:cNvPr id="5" name="Imagen 4" descr="Captura de pantalla (89)"/>
          <p:cNvPicPr>
            <a:picLocks noChangeAspect="1"/>
          </p:cNvPicPr>
          <p:nvPr/>
        </p:nvPicPr>
        <p:blipFill>
          <a:blip r:embed="rId3"/>
          <a:srcRect l="24271" t="36104" r="625" b="15909"/>
          <a:stretch>
            <a:fillRect/>
          </a:stretch>
        </p:blipFill>
        <p:spPr>
          <a:xfrm>
            <a:off x="952500" y="2425065"/>
            <a:ext cx="6867525" cy="24669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Función del módulo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28370"/>
            <a:ext cx="3977640" cy="3695700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8000" y="1835785"/>
            <a:ext cx="3693795" cy="1949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Genera alfabetos personalizados mediante palabras clave.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Elimina caracteres repetidos autom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ticamente.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Respeta el alfabeto seleccionado por el usuario.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Valida caracteres inv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lidos.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Compatible con: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May</a:t>
            </a:r>
            <a:r>
              <a:rPr lang="en-US" altLang="en-US" sz="1400" dirty="0">
                <a:solidFill>
                  <a:schemeClr val="accent5"/>
                </a:solidFill>
              </a:rPr>
              <a:t>ú</a:t>
            </a:r>
            <a:r>
              <a:rPr lang="en-US" altLang="es-ES" sz="1400" dirty="0">
                <a:solidFill>
                  <a:schemeClr val="accent5"/>
                </a:solidFill>
              </a:rPr>
              <a:t>sculas con </a:t>
            </a:r>
            <a:r>
              <a:rPr lang="" altLang="en-US" sz="1400" dirty="0">
                <a:solidFill>
                  <a:schemeClr val="accent5"/>
                </a:solidFill>
              </a:rPr>
              <a:t>Ñ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Letras y n</a:t>
            </a:r>
            <a:r>
              <a:rPr lang="en-US" altLang="en-US" sz="1400" dirty="0">
                <a:solidFill>
                  <a:schemeClr val="accent5"/>
                </a:solidFill>
              </a:rPr>
              <a:t>ú</a:t>
            </a:r>
            <a:r>
              <a:rPr lang="en-US" altLang="es-ES" sz="1400" dirty="0">
                <a:solidFill>
                  <a:schemeClr val="accent5"/>
                </a:solidFill>
              </a:rPr>
              <a:t>meros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ASCII extendido</a:t>
            </a:r>
          </a:p>
        </p:txBody>
      </p:sp>
      <p:pic>
        <p:nvPicPr>
          <p:cNvPr id="5" name="Imagen 4" descr="Captura de pantalla (88)"/>
          <p:cNvPicPr>
            <a:picLocks noChangeAspect="1"/>
          </p:cNvPicPr>
          <p:nvPr/>
        </p:nvPicPr>
        <p:blipFill>
          <a:blip r:embed="rId3"/>
          <a:srcRect l="26215" t="8510" r="21403" b="27779"/>
          <a:stretch>
            <a:fillRect/>
          </a:stretch>
        </p:blipFill>
        <p:spPr>
          <a:xfrm>
            <a:off x="4495165" y="908050"/>
            <a:ext cx="4076700" cy="37160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013460"/>
            <a:ext cx="76200" cy="27355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98869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CRIPTOGRAFÍA CLÁSICA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M</a:t>
            </a:r>
            <a:r>
              <a:rPr lang="en-US" alt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ó</a:t>
            </a: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dulo de Criptoan</a:t>
            </a:r>
            <a:r>
              <a:rPr lang="en-US" alt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á</a:t>
            </a: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lisis por Ecuaciones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A4A6A"/>
                </a:solidFill>
              </a:rPr>
              <a:t>Z C W S · X H P Q · N F A M · B R T V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¿Qué hace?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72160"/>
            <a:ext cx="8412480" cy="716915"/>
          </a:xfrm>
          <a:prstGeom prst="rect">
            <a:avLst/>
          </a:prstGeom>
          <a:solidFill>
            <a:srgbClr val="0A1A2E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El m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dulo de criptoan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lisis permite recuperar las claves del cifrado Af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 utilizando correspondencias conocidas entre texto original y texto cifrado.</a:t>
            </a:r>
          </a:p>
          <a:p>
            <a:pPr marL="0" indent="0" algn="ctr">
              <a:buNone/>
            </a:pP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El sistema aplica ecuaciones modulares para calcular autom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ticamente los valores de a y b.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1867535"/>
            <a:ext cx="3931920" cy="2933065"/>
          </a:xfrm>
          <a:prstGeom prst="rect">
            <a:avLst/>
          </a:prstGeom>
          <a:solidFill>
            <a:srgbClr val="1E305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756410"/>
            <a:ext cx="39319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75641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BO" altLang="en-US" sz="1300" b="1" dirty="0">
                <a:solidFill>
                  <a:srgbClr val="0D1B2A"/>
                </a:solidFill>
              </a:rPr>
              <a:t>¿En qué se basa?</a:t>
            </a:r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657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criptoan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lisis por ecuaciones se basa en resolver sistemas de ecuaciones modulares del cifrado Af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utilizando correspondencias conocidas entre texto original y texto cifrado..</a:t>
            </a:r>
          </a:p>
        </p:txBody>
      </p:sp>
      <p:sp>
        <p:nvSpPr>
          <p:cNvPr id="9" name="Shape 7"/>
          <p:cNvSpPr/>
          <p:nvPr/>
        </p:nvSpPr>
        <p:spPr>
          <a:xfrm>
            <a:off x="4844415" y="1755775"/>
            <a:ext cx="3931920" cy="3035935"/>
          </a:xfrm>
          <a:prstGeom prst="rect">
            <a:avLst/>
          </a:prstGeom>
          <a:solidFill>
            <a:srgbClr val="1E3050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756410"/>
            <a:ext cx="39319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92040" y="175641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300" b="1" dirty="0">
                <a:solidFill>
                  <a:srgbClr val="FFFFFF"/>
                </a:solidFill>
              </a:rPr>
              <a:t>Cifrado Af</a:t>
            </a:r>
            <a:r>
              <a:rPr lang="en-US" altLang="en-US" sz="1300" b="1" dirty="0">
                <a:solidFill>
                  <a:srgbClr val="FFFFFF"/>
                </a:solidFill>
              </a:rPr>
              <a:t>í</a:t>
            </a:r>
            <a:r>
              <a:rPr lang="en-US" altLang="es-ES" sz="1300" b="1" dirty="0">
                <a:solidFill>
                  <a:srgbClr val="FFFFFF"/>
                </a:solidFill>
              </a:rPr>
              <a:t>n </a:t>
            </a:r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657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cifrado Af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pertenece a los cifrados monoalfab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ticos y utiliza la siguiente ecuaci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n: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𝑪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(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𝒂𝑴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+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𝒃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𝒎</a:t>
            </a:r>
            <a:r>
              <a:rPr lang="es-BO" altLang="zh-CN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𝒅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𝒏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Donde: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𝐶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car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cter cifrado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𝑀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car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cter original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𝑎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y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𝑏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claves del sistema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𝑛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tama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ñ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 del alfabeto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Función principal del módulo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28370"/>
            <a:ext cx="3977640" cy="3695700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8000" y="1835785"/>
            <a:ext cx="3693795" cy="1949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El sistema: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Convierte las letras a n</a:t>
            </a:r>
            <a:r>
              <a:rPr lang="en-US" altLang="en-US" sz="1400" dirty="0">
                <a:solidFill>
                  <a:schemeClr val="accent5"/>
                </a:solidFill>
              </a:rPr>
              <a:t>ú</a:t>
            </a:r>
            <a:r>
              <a:rPr lang="en-US" altLang="es-ES" sz="1400" dirty="0">
                <a:solidFill>
                  <a:schemeClr val="accent5"/>
                </a:solidFill>
              </a:rPr>
              <a:t>meros seg</a:t>
            </a:r>
            <a:r>
              <a:rPr lang="en-US" altLang="en-US" sz="1400" dirty="0">
                <a:solidFill>
                  <a:schemeClr val="accent5"/>
                </a:solidFill>
              </a:rPr>
              <a:t>ú</a:t>
            </a:r>
            <a:r>
              <a:rPr lang="en-US" altLang="es-ES" sz="1400" dirty="0">
                <a:solidFill>
                  <a:schemeClr val="accent5"/>
                </a:solidFill>
              </a:rPr>
              <a:t>n el alfabeto.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Forma un sistema de ecuaciones modulares.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Calcula diferencias entre valores.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Obtiene el inverso modular.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Resuelve autom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ticamente los valores de a y b.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Usa la ecuaci</a:t>
            </a:r>
            <a:r>
              <a:rPr lang="en-US" altLang="en-US" sz="1400" dirty="0">
                <a:solidFill>
                  <a:schemeClr val="accent5"/>
                </a:solidFill>
              </a:rPr>
              <a:t>ó</a:t>
            </a:r>
            <a:r>
              <a:rPr lang="en-US" altLang="es-ES" sz="1400" dirty="0">
                <a:solidFill>
                  <a:schemeClr val="accent5"/>
                </a:solidFill>
              </a:rPr>
              <a:t>n: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C=(aM+b)modn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De esta manera, el m</a:t>
            </a:r>
            <a:r>
              <a:rPr lang="en-US" altLang="en-US" sz="1400" dirty="0">
                <a:solidFill>
                  <a:schemeClr val="accent5"/>
                </a:solidFill>
              </a:rPr>
              <a:t>ó</a:t>
            </a:r>
            <a:r>
              <a:rPr lang="en-US" altLang="es-ES" sz="1400" dirty="0">
                <a:solidFill>
                  <a:schemeClr val="accent5"/>
                </a:solidFill>
              </a:rPr>
              <a:t>dulo puede descubrir la clave utilizada en el cifrado Af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n sin conocerla previamente.</a:t>
            </a:r>
          </a:p>
        </p:txBody>
      </p:sp>
      <p:pic>
        <p:nvPicPr>
          <p:cNvPr id="6" name="Imagen 5" descr="Captura de pantalla (90)"/>
          <p:cNvPicPr>
            <a:picLocks noChangeAspect="1"/>
          </p:cNvPicPr>
          <p:nvPr/>
        </p:nvPicPr>
        <p:blipFill>
          <a:blip r:embed="rId3"/>
          <a:srcRect l="26458" t="14056" r="29479" b="10079"/>
          <a:stretch>
            <a:fillRect/>
          </a:stretch>
        </p:blipFill>
        <p:spPr>
          <a:xfrm>
            <a:off x="4657725" y="928370"/>
            <a:ext cx="4029075" cy="39001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013460"/>
            <a:ext cx="76200" cy="27355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988695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CRIPTOGRAFÍA CLÁSICA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77724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Comparador de Cifras Cl</a:t>
            </a:r>
            <a:r>
              <a:rPr lang="en-US" alt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á</a:t>
            </a:r>
            <a:r>
              <a:rPr lang="en-US" altLang="es-E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sicas</a:t>
            </a:r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A4A6A"/>
                </a:solidFill>
              </a:rPr>
              <a:t>Z C W S · X H P Q · N F A M · B R T V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¿Qué hace?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772160"/>
            <a:ext cx="8412480" cy="1202055"/>
          </a:xfrm>
          <a:prstGeom prst="rect">
            <a:avLst/>
          </a:prstGeom>
          <a:solidFill>
            <a:srgbClr val="0A1A2E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2920" y="118110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El comparador de cifras cl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sicas es un m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dulo que permite analizar y visualizar las diferencias entre el cifrado C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sar y el cifrado Af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 utilizando un mismo mensaje de entrada.</a:t>
            </a:r>
          </a:p>
          <a:p>
            <a:pPr marL="0" indent="0" algn="ctr">
              <a:buNone/>
            </a:pP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El sistema aplica ambos algoritmos y muestra c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mo cada uno transforma el texto original, permitiendo observar el comportamiento de los cifrados monoalfab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ticos y comparar su complejidad criptogr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fica mediante resultados, frecuencias e </a:t>
            </a:r>
            <a:r>
              <a:rPr lang="en-US" altLang="en-U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ndices de coincidencia.</a:t>
            </a:r>
          </a:p>
        </p:txBody>
      </p:sp>
      <p:sp>
        <p:nvSpPr>
          <p:cNvPr id="5" name="Shape 3"/>
          <p:cNvSpPr/>
          <p:nvPr/>
        </p:nvSpPr>
        <p:spPr>
          <a:xfrm>
            <a:off x="365760" y="2140585"/>
            <a:ext cx="3931920" cy="2660015"/>
          </a:xfrm>
          <a:prstGeom prst="rect">
            <a:avLst/>
          </a:prstGeom>
          <a:solidFill>
            <a:srgbClr val="1E305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2140585"/>
            <a:ext cx="39319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2140585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300" b="1" dirty="0">
                <a:solidFill>
                  <a:srgbClr val="0D1B2A"/>
                </a:solidFill>
              </a:rPr>
              <a:t>Cifrado C</a:t>
            </a:r>
            <a:r>
              <a:rPr lang="en-US" altLang="en-US" sz="1300" b="1" dirty="0">
                <a:solidFill>
                  <a:srgbClr val="0D1B2A"/>
                </a:solidFill>
              </a:rPr>
              <a:t>é</a:t>
            </a:r>
            <a:r>
              <a:rPr lang="en-US" altLang="es-ES" sz="1300" b="1" dirty="0">
                <a:solidFill>
                  <a:srgbClr val="0D1B2A"/>
                </a:solidFill>
              </a:rPr>
              <a:t>sar </a:t>
            </a:r>
          </a:p>
        </p:txBody>
      </p:sp>
      <p:sp>
        <p:nvSpPr>
          <p:cNvPr id="8" name="Text 6"/>
          <p:cNvSpPr/>
          <p:nvPr/>
        </p:nvSpPr>
        <p:spPr>
          <a:xfrm>
            <a:off x="411480" y="2273935"/>
            <a:ext cx="384048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cifrado C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sar es un sistema de sustituci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monoalfab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tica que desplaza cada letra un n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ú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mero fijo de posiciones dentro del alfabeto.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𝑪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(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𝑴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+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𝒌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𝒎𝒐𝒅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𝒏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Donde: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𝐶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car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cter cifrado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𝑀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car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cter original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𝑘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desplazamiento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𝑛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tama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ñ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o del alfabeto </a:t>
            </a:r>
          </a:p>
        </p:txBody>
      </p:sp>
      <p:sp>
        <p:nvSpPr>
          <p:cNvPr id="9" name="Shape 7"/>
          <p:cNvSpPr/>
          <p:nvPr/>
        </p:nvSpPr>
        <p:spPr>
          <a:xfrm>
            <a:off x="4844415" y="2143125"/>
            <a:ext cx="3931920" cy="2648585"/>
          </a:xfrm>
          <a:prstGeom prst="rect">
            <a:avLst/>
          </a:prstGeom>
          <a:solidFill>
            <a:srgbClr val="1E3050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2140585"/>
            <a:ext cx="39319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92040" y="2140585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s-ES" sz="1300" b="1" dirty="0">
                <a:solidFill>
                  <a:srgbClr val="FFFFFF"/>
                </a:solidFill>
              </a:rPr>
              <a:t>Cifrado Af</a:t>
            </a:r>
            <a:r>
              <a:rPr lang="en-US" altLang="en-US" sz="1300" b="1" dirty="0">
                <a:solidFill>
                  <a:srgbClr val="FFFFFF"/>
                </a:solidFill>
              </a:rPr>
              <a:t>í</a:t>
            </a:r>
            <a:r>
              <a:rPr lang="en-US" altLang="es-ES" sz="1300" b="1" dirty="0">
                <a:solidFill>
                  <a:srgbClr val="FFFFFF"/>
                </a:solidFill>
              </a:rPr>
              <a:t>n </a:t>
            </a:r>
          </a:p>
        </p:txBody>
      </p:sp>
      <p:sp>
        <p:nvSpPr>
          <p:cNvPr id="12" name="Text 10"/>
          <p:cNvSpPr/>
          <p:nvPr/>
        </p:nvSpPr>
        <p:spPr>
          <a:xfrm>
            <a:off x="4973955" y="2571750"/>
            <a:ext cx="3657600" cy="2301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cifrado Af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utiliza una transformaci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lineal sobre cada car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cter del mensaje: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𝑪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(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𝒂𝑴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+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𝒃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)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𝒎𝒐𝒅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𝒏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Donde: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𝑎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y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𝑏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= claves del sistema </a:t>
            </a:r>
          </a:p>
          <a:p>
            <a:pPr marL="0" indent="0" algn="l">
              <a:buNone/>
            </a:pP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𝑎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debe ser coprimo con </a:t>
            </a:r>
            <a:r>
              <a:rPr lang="zh-CN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𝑛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</a:t>
            </a:r>
          </a:p>
          <a:p>
            <a:pPr marL="0" indent="0" algn="l">
              <a:buNone/>
            </a:pP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uso de multiplicaci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ó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modular hace que el cifrado Af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í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n produzca transformaciones m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á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 complejas que el C</a:t>
            </a:r>
            <a:r>
              <a:rPr lang="en-US" altLang="en-U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é</a:t>
            </a:r>
            <a:r>
              <a:rPr lang="en-US" altLang="es-ES" sz="1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sar. </a:t>
            </a:r>
          </a:p>
          <a:p>
            <a:pPr marL="0" indent="0" algn="l">
              <a:buNone/>
            </a:pPr>
            <a:endParaRPr lang="en-US" altLang="es-E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s-BO" alt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Función principal del módulo</a:t>
            </a:r>
          </a:p>
        </p:txBody>
      </p:sp>
      <p:sp>
        <p:nvSpPr>
          <p:cNvPr id="3" name="Shape 1"/>
          <p:cNvSpPr/>
          <p:nvPr/>
        </p:nvSpPr>
        <p:spPr>
          <a:xfrm>
            <a:off x="365760" y="928370"/>
            <a:ext cx="3977640" cy="3695700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508000" y="1835785"/>
            <a:ext cx="3693795" cy="194945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El sistema: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Recibe un mensaje y las claves de ambos cifrados.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Aplica el cifrado C</a:t>
            </a:r>
            <a:r>
              <a:rPr lang="en-US" altLang="en-US" sz="1400" dirty="0">
                <a:solidFill>
                  <a:schemeClr val="accent5"/>
                </a:solidFill>
              </a:rPr>
              <a:t>é</a:t>
            </a:r>
            <a:r>
              <a:rPr lang="en-US" altLang="es-ES" sz="1400" dirty="0">
                <a:solidFill>
                  <a:schemeClr val="accent5"/>
                </a:solidFill>
              </a:rPr>
              <a:t>sar.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Aplica el cifrado Af</a:t>
            </a:r>
            <a:r>
              <a:rPr lang="en-US" altLang="en-US" sz="1400" dirty="0">
                <a:solidFill>
                  <a:schemeClr val="accent5"/>
                </a:solidFill>
              </a:rPr>
              <a:t>í</a:t>
            </a:r>
            <a:r>
              <a:rPr lang="en-US" altLang="es-ES" sz="1400" dirty="0">
                <a:solidFill>
                  <a:schemeClr val="accent5"/>
                </a:solidFill>
              </a:rPr>
              <a:t>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Muestra los resultados obtenidos.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s-ES" sz="1400" dirty="0">
                <a:solidFill>
                  <a:schemeClr val="accent5"/>
                </a:solidFill>
              </a:rPr>
              <a:t>Permite comparar c</a:t>
            </a:r>
            <a:r>
              <a:rPr lang="en-US" altLang="en-US" sz="1400" dirty="0">
                <a:solidFill>
                  <a:schemeClr val="accent5"/>
                </a:solidFill>
              </a:rPr>
              <a:t>ó</a:t>
            </a:r>
            <a:r>
              <a:rPr lang="en-US" altLang="es-ES" sz="1400" dirty="0">
                <a:solidFill>
                  <a:schemeClr val="accent5"/>
                </a:solidFill>
              </a:rPr>
              <a:t>mo cada algoritmo transforma el texto original.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Adem</a:t>
            </a:r>
            <a:r>
              <a:rPr lang="en-US" altLang="en-US" sz="1400" dirty="0">
                <a:solidFill>
                  <a:schemeClr val="accent5"/>
                </a:solidFill>
              </a:rPr>
              <a:t>á</a:t>
            </a:r>
            <a:r>
              <a:rPr lang="en-US" altLang="es-ES" sz="1400" dirty="0">
                <a:solidFill>
                  <a:schemeClr val="accent5"/>
                </a:solidFill>
              </a:rPr>
              <a:t>s, valida: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caracteres permitidos,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valores coprimos,</a:t>
            </a:r>
          </a:p>
          <a:p>
            <a:pPr indent="0" algn="l">
              <a:buFont typeface="Arial" panose="020B0604020202020204" pitchFamily="34" charset="0"/>
              <a:buNone/>
            </a:pPr>
            <a:r>
              <a:rPr lang="en-US" altLang="es-ES" sz="1400" dirty="0">
                <a:solidFill>
                  <a:schemeClr val="accent5"/>
                </a:solidFill>
              </a:rPr>
              <a:t>y errores de entrada.</a:t>
            </a:r>
          </a:p>
        </p:txBody>
      </p:sp>
      <p:pic>
        <p:nvPicPr>
          <p:cNvPr id="5" name="Imagen 4" descr="Captura de pantalla (91)"/>
          <p:cNvPicPr>
            <a:picLocks noChangeAspect="1"/>
          </p:cNvPicPr>
          <p:nvPr/>
        </p:nvPicPr>
        <p:blipFill>
          <a:blip r:embed="rId3"/>
          <a:srcRect l="26250" t="13686" r="28958" b="6855"/>
          <a:stretch>
            <a:fillRect/>
          </a:stretch>
        </p:blipFill>
        <p:spPr>
          <a:xfrm>
            <a:off x="4691380" y="868045"/>
            <a:ext cx="3995420" cy="39852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48640" y="1371600"/>
            <a:ext cx="91440" cy="237744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777240" y="1325880"/>
            <a:ext cx="5486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4FC3F7"/>
                </a:solidFill>
              </a:rPr>
              <a:t>CRIPTOGRAFÍA CLÁSICA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1691640"/>
            <a:ext cx="640080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Cifrado de</a:t>
            </a:r>
            <a:endParaRPr lang="en-US" sz="5200" dirty="0"/>
          </a:p>
          <a:p>
            <a:pPr marL="0" indent="0" algn="l">
              <a:buNone/>
            </a:pPr>
            <a:r>
              <a:rPr lang="en-US" sz="52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Vigenère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77240" y="352044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B0C4DE"/>
                </a:solidFill>
              </a:rPr>
              <a:t>Cifrado de sustitución polialfabético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4114800"/>
            <a:ext cx="7772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2A4A6A"/>
                </a:solidFill>
              </a:rPr>
              <a:t>Z C W S · X H P Q · N F A M · B R T V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Cómo funciona: Las Fórmulas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502920"/>
          </a:xfrm>
          <a:prstGeom prst="rect">
            <a:avLst/>
          </a:prstGeom>
          <a:solidFill>
            <a:srgbClr val="102030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FC3F7"/>
                </a:solidFill>
              </a:rPr>
              <a:t>Cada letra del mensaje se cifra usando la letra correspondiente de la clave (que se repite)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664208"/>
            <a:ext cx="8412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Posición en el alfabeto:  A=0  B=1  C=2  D=3 … Z=25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76272"/>
            <a:ext cx="4160520" cy="2331720"/>
          </a:xfrm>
          <a:prstGeom prst="rect">
            <a:avLst/>
          </a:prstGeom>
          <a:solidFill>
            <a:srgbClr val="1E305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365760" y="2176272"/>
            <a:ext cx="41605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411480" y="217627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🔒  CIFRADO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670048"/>
            <a:ext cx="3977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Cᵢ = (Pᵢ + Kᵢ) mod 26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321868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166"/>
                </a:solidFill>
              </a:rPr>
              <a:t>Pᵢ</a:t>
            </a:r>
            <a:r>
              <a:rPr lang="en-US" sz="1200" dirty="0">
                <a:solidFill>
                  <a:srgbClr val="B0C4DE"/>
                </a:solidFill>
              </a:rPr>
              <a:t> = posición de la letra del mensaje
</a:t>
            </a:r>
            <a:r>
              <a:rPr lang="en-US" sz="1200" b="1" dirty="0">
                <a:solidFill>
                  <a:srgbClr val="FFD166"/>
                </a:solidFill>
              </a:rPr>
              <a:t>Kᵢ</a:t>
            </a:r>
            <a:r>
              <a:rPr lang="en-US" sz="1200" dirty="0">
                <a:solidFill>
                  <a:srgbClr val="B0C4DE"/>
                </a:solidFill>
              </a:rPr>
              <a:t> = posición de la letra de la clave
</a:t>
            </a:r>
            <a:r>
              <a:rPr lang="en-US" sz="1200" b="1" dirty="0">
                <a:solidFill>
                  <a:srgbClr val="FFD166"/>
                </a:solidFill>
              </a:rPr>
              <a:t>Cᵢ</a:t>
            </a:r>
            <a:r>
              <a:rPr lang="en-US" sz="1200" dirty="0">
                <a:solidFill>
                  <a:srgbClr val="B0C4DE"/>
                </a:solidFill>
              </a:rPr>
              <a:t> = letra cifrada resultante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2176272"/>
            <a:ext cx="4160520" cy="2331720"/>
          </a:xfrm>
          <a:prstGeom prst="rect">
            <a:avLst/>
          </a:prstGeom>
          <a:solidFill>
            <a:srgbClr val="1E3050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17720" y="2176272"/>
            <a:ext cx="41605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663440" y="2176272"/>
            <a:ext cx="40690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🔓  DESCIFRADO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63440" y="2670048"/>
            <a:ext cx="397764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9456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Pᵢ = (Cᵢ − Kᵢ + 26) mod 26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709160" y="3218688"/>
            <a:ext cx="384048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166"/>
                </a:solidFill>
              </a:rPr>
              <a:t>Cᵢ</a:t>
            </a:r>
            <a:r>
              <a:rPr lang="en-US" sz="1200" dirty="0">
                <a:solidFill>
                  <a:srgbClr val="B0C4DE"/>
                </a:solidFill>
              </a:rPr>
              <a:t> = letra cifrada recibida
</a:t>
            </a:r>
            <a:r>
              <a:rPr lang="en-US" sz="1200" b="1" dirty="0">
                <a:solidFill>
                  <a:srgbClr val="FFD166"/>
                </a:solidFill>
              </a:rPr>
              <a:t>Kᵢ</a:t>
            </a:r>
            <a:r>
              <a:rPr lang="en-US" sz="1200" dirty="0">
                <a:solidFill>
                  <a:srgbClr val="B0C4DE"/>
                </a:solidFill>
              </a:rPr>
              <a:t> = letra de la clave
</a:t>
            </a:r>
            <a:r>
              <a:rPr lang="en-US" sz="1200" b="1" dirty="0">
                <a:solidFill>
                  <a:srgbClr val="FFD166"/>
                </a:solidFill>
              </a:rPr>
              <a:t>+26</a:t>
            </a:r>
            <a:r>
              <a:rPr lang="en-US" sz="1200" dirty="0">
                <a:solidFill>
                  <a:srgbClr val="B0C4DE"/>
                </a:solidFill>
              </a:rPr>
              <a:t> = evita resultados negativos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Ejemplo Paso a Paso: Cifrado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0A1A2E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C4DE"/>
                </a:solidFill>
              </a:rPr>
              <a:t>Mensaje: </a:t>
            </a:r>
            <a:r>
              <a:rPr lang="en-US" sz="1400" b="1" dirty="0">
                <a:solidFill>
                  <a:srgbClr val="FFD166"/>
                </a:solidFill>
              </a:rPr>
              <a:t>HOLA  </a:t>
            </a:r>
            <a:r>
              <a:rPr lang="en-US" sz="1400" b="1" dirty="0">
                <a:solidFill>
                  <a:srgbClr val="B0C4DE"/>
                </a:solidFill>
              </a:rPr>
              <a:t>  |  Clave: </a:t>
            </a:r>
            <a:r>
              <a:rPr lang="en-US" sz="1400" b="1" dirty="0">
                <a:solidFill>
                  <a:srgbClr val="06D6A0"/>
                </a:solidFill>
              </a:rPr>
              <a:t>SOL</a:t>
            </a:r>
            <a:r>
              <a:rPr lang="en-US" sz="1400" b="1" dirty="0">
                <a:solidFill>
                  <a:srgbClr val="B0C4DE"/>
                </a:solidFill>
              </a:rPr>
              <a:t>  →  Clave expandida: </a:t>
            </a:r>
            <a:r>
              <a:rPr lang="en-US" sz="1400" b="1" dirty="0">
                <a:solidFill>
                  <a:srgbClr val="06D6A0"/>
                </a:solidFill>
              </a:rPr>
              <a:t>SOLS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59" y="1508760"/>
            <a:ext cx="2582723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59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Letra Mensaje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04287" y="1508760"/>
            <a:ext cx="2582723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304287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Clave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42815" y="1508760"/>
            <a:ext cx="2582723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242815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Cálculo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3" y="1508760"/>
            <a:ext cx="2582723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81343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Resultado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59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  (7)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04287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350008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(18)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42815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288536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(7 + 18) mod 26 = 25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3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227064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65759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11480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 (14)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04287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350008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 (14)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42815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288536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(14 + 14) mod 26 = 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81343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227064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65759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11480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(11)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04287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350008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(11)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42815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288536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(11 + 11) mod 26 = 22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3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6227064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65759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411480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 (0)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04287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2350008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(18)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42815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288536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(0 + 18) mod 26 = 18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81343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6227064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945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</a:rPr>
              <a:t>Texto cifrado: </a:t>
            </a:r>
            <a:r>
              <a:rPr lang="en-US" sz="2200" b="1" dirty="0">
                <a:solidFill>
                  <a:srgbClr val="FFFFFF"/>
                </a:solidFill>
              </a:rPr>
              <a:t>ZCWS</a:t>
            </a:r>
            <a:r>
              <a:rPr lang="en-US" sz="2000" b="1" dirty="0">
                <a:solidFill>
                  <a:srgbClr val="FFD166"/>
                </a:solidFill>
              </a:rPr>
              <a:t>  ✓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Ejemplo Paso a Paso: Descifrado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0A1A2E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932688"/>
            <a:ext cx="8229600" cy="42062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0C4DE"/>
                </a:solidFill>
              </a:rPr>
              <a:t>Mensaje cifrado: </a:t>
            </a:r>
            <a:r>
              <a:rPr lang="en-US" sz="1400" b="1" dirty="0">
                <a:solidFill>
                  <a:srgbClr val="E94560"/>
                </a:solidFill>
              </a:rPr>
              <a:t>ZCWS  </a:t>
            </a:r>
            <a:r>
              <a:rPr lang="en-US" sz="1400" b="1" dirty="0">
                <a:solidFill>
                  <a:srgbClr val="B0C4DE"/>
                </a:solidFill>
              </a:rPr>
              <a:t>  |  Clave: </a:t>
            </a:r>
            <a:r>
              <a:rPr lang="en-US" sz="1400" b="1" dirty="0">
                <a:solidFill>
                  <a:srgbClr val="06D6A0"/>
                </a:solidFill>
              </a:rPr>
              <a:t>SOLS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59" y="1508760"/>
            <a:ext cx="2582723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365759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Letra Cifrada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04287" y="1508760"/>
            <a:ext cx="2582723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304287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Clave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42815" y="1508760"/>
            <a:ext cx="2582723" cy="38404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242815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Cálculo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81343" y="1508760"/>
            <a:ext cx="2582723" cy="38404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6181343" y="1508760"/>
            <a:ext cx="2582723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Resultado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59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411480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  (25)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304287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6" name="Text 14"/>
          <p:cNvSpPr/>
          <p:nvPr/>
        </p:nvSpPr>
        <p:spPr>
          <a:xfrm>
            <a:off x="2350008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(18)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242815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4288536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(25 − 18) mod 26 = 7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3" y="192024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0" name="Text 18"/>
          <p:cNvSpPr/>
          <p:nvPr/>
        </p:nvSpPr>
        <p:spPr>
          <a:xfrm>
            <a:off x="6227064" y="192024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65759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411480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  (2)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304287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4" name="Text 22"/>
          <p:cNvSpPr/>
          <p:nvPr/>
        </p:nvSpPr>
        <p:spPr>
          <a:xfrm>
            <a:off x="2350008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  (14)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242815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6" name="Text 24"/>
          <p:cNvSpPr/>
          <p:nvPr/>
        </p:nvSpPr>
        <p:spPr>
          <a:xfrm>
            <a:off x="4288536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(2 − 14 + 26) mod 26 = 14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81343" y="251460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6227064" y="251460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65759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0" name="Text 28"/>
          <p:cNvSpPr/>
          <p:nvPr/>
        </p:nvSpPr>
        <p:spPr>
          <a:xfrm>
            <a:off x="411480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  (22)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304287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2" name="Text 30"/>
          <p:cNvSpPr/>
          <p:nvPr/>
        </p:nvSpPr>
        <p:spPr>
          <a:xfrm>
            <a:off x="2350008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  (11)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242815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4" name="Text 32"/>
          <p:cNvSpPr/>
          <p:nvPr/>
        </p:nvSpPr>
        <p:spPr>
          <a:xfrm>
            <a:off x="4288536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(22 − 11) mod 26 = 11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181343" y="3108960"/>
            <a:ext cx="2582723" cy="566928"/>
          </a:xfrm>
          <a:prstGeom prst="rect">
            <a:avLst/>
          </a:prstGeom>
          <a:solidFill>
            <a:srgbClr val="132030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6227064" y="310896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365759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8" name="Text 36"/>
          <p:cNvSpPr/>
          <p:nvPr/>
        </p:nvSpPr>
        <p:spPr>
          <a:xfrm>
            <a:off x="411480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(18)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2304287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0" name="Text 38"/>
          <p:cNvSpPr/>
          <p:nvPr/>
        </p:nvSpPr>
        <p:spPr>
          <a:xfrm>
            <a:off x="2350008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  (18)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242815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2" name="Text 40"/>
          <p:cNvSpPr/>
          <p:nvPr/>
        </p:nvSpPr>
        <p:spPr>
          <a:xfrm>
            <a:off x="4288536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D166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(18 − 18) mod 26 = 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181343" y="3703320"/>
            <a:ext cx="2582723" cy="566928"/>
          </a:xfrm>
          <a:prstGeom prst="rect">
            <a:avLst/>
          </a:prstGeom>
          <a:solidFill>
            <a:srgbClr val="0D1825"/>
          </a:solidFill>
          <a:ln w="12700">
            <a:solidFill>
              <a:srgbClr val="1E305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4" name="Text 42"/>
          <p:cNvSpPr/>
          <p:nvPr/>
        </p:nvSpPr>
        <p:spPr>
          <a:xfrm>
            <a:off x="6227064" y="3703320"/>
            <a:ext cx="2459736" cy="5669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</a:t>
            </a:r>
            <a:endParaRPr lang="en-US" sz="2200" dirty="0"/>
          </a:p>
        </p:txBody>
      </p:sp>
      <p:sp>
        <p:nvSpPr>
          <p:cNvPr id="45" name="Shape 43"/>
          <p:cNvSpPr/>
          <p:nvPr/>
        </p:nvSpPr>
        <p:spPr>
          <a:xfrm>
            <a:off x="365760" y="4343400"/>
            <a:ext cx="8412480" cy="56692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6" name="Text 44"/>
          <p:cNvSpPr/>
          <p:nvPr/>
        </p:nvSpPr>
        <p:spPr>
          <a:xfrm>
            <a:off x="457200" y="4370832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D1B2A"/>
                </a:solidFill>
              </a:rPr>
              <a:t>Mensaje recuperado: </a:t>
            </a:r>
            <a:r>
              <a:rPr lang="en-US" sz="2200" b="1" dirty="0">
                <a:solidFill>
                  <a:srgbClr val="0D1B2A"/>
                </a:solidFill>
              </a:rPr>
              <a:t>HOLA</a:t>
            </a:r>
            <a:r>
              <a:rPr lang="en-US" sz="2000" b="1" dirty="0">
                <a:solidFill>
                  <a:srgbClr val="0D1B2A"/>
                </a:solidFill>
              </a:rPr>
              <a:t>  ✓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8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Fortalezas y Debilidades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475488"/>
          </a:xfrm>
          <a:prstGeom prst="rect">
            <a:avLst/>
          </a:prstGeom>
          <a:solidFill>
            <a:srgbClr val="0A1A2E"/>
          </a:solidFill>
          <a:ln w="127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D166"/>
                </a:solidFill>
              </a:rPr>
              <a:t>La misma letra puede cifrarse de maneras distintas según su posición en el mensaje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931920" cy="3291840"/>
          </a:xfrm>
          <a:prstGeom prst="rect">
            <a:avLst/>
          </a:prstGeom>
          <a:solidFill>
            <a:srgbClr val="1E3050"/>
          </a:solidFill>
          <a:ln w="12700">
            <a:solidFill>
              <a:srgbClr val="06D6A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3931920" cy="38404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</a:rPr>
              <a:t>✅  Fortalezas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3657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</a:rPr>
              <a:t>• Sustitución polialfabética dificulta
  el análisis de frecuencia
• La misma letra produce distintos
  caracteres cifrados
• El espacio de claves crece
  exponencialmente con su longitud
• Base del cifrado One-Time Pad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</a:rPr>
              <a:t>  (clave = longitud del mensaje → irrompible)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3931920" cy="3291840"/>
          </a:xfrm>
          <a:prstGeom prst="rect">
            <a:avLst/>
          </a:prstGeom>
          <a:solidFill>
            <a:srgbClr val="1E3050"/>
          </a:solidFill>
          <a:ln w="12700">
            <a:solidFill>
              <a:srgbClr val="E94560"/>
            </a:solidFill>
            <a:prstDash val="solid"/>
          </a:ln>
          <a:effectLst>
            <a:outerShdw blurRad="762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0" name="Shape 8"/>
          <p:cNvSpPr/>
          <p:nvPr/>
        </p:nvSpPr>
        <p:spPr>
          <a:xfrm>
            <a:off x="4846320" y="1508760"/>
            <a:ext cx="3931920" cy="384048"/>
          </a:xfrm>
          <a:prstGeom prst="rect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84048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Debilidades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965960"/>
            <a:ext cx="365760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</a:rPr>
              <a:t>• Clave corta y repetitiva es vulnerable
  al Test de Kasiski
• El Índice de Coincidencia puede
  revelar la longitud de la clave
• Si se usa la misma clave dos veces,
  puede ser roto con XOR
• Descifrado completo posible si se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B0C4DE"/>
                </a:solidFill>
              </a:rPr>
              <a:t>  conoce el largo de la clave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0"/>
            <a:ext cx="4114800" cy="109728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Algoritmo de Kasiski</a:t>
            </a:r>
            <a:endParaRPr kumimoji="0" lang="en-US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5303520" cy="50292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502920" y="2167128"/>
            <a:ext cx="52120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Criptoanálisis del Cifrado de Vigenère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Friedrich Kasiski · 1863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0" y="1005840"/>
            <a:ext cx="2286000" cy="29260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675120" y="1188720"/>
            <a:ext cx="210312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 E X T 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 I F R A D O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675120" y="19659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178040" y="19659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Q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183880" y="196596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675120" y="23774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78040" y="23774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0960" y="23774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83880" y="237744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675120" y="278892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78040" y="278892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80960" y="278892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183880" y="278892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675120" y="320040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78040" y="320040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680960" y="320040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83880" y="3200400"/>
            <a:ext cx="41148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 secuencias resaltadas son la clave del método.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¿En qué se basa?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1371600" cy="54864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02920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37160" cy="155448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621792" y="120700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cifrado de Vigenère repite la clave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621792" y="1627632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0D8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 la clave es "CLAVE" (longitud 5), cada 5 letras se usa el mismo desplazamiento.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5029200" cy="155448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137160" cy="155448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1792" y="3035808"/>
            <a:ext cx="46634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Las repeticiones dejan rastro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21792" y="3456432"/>
            <a:ext cx="466344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C0D8F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 la misma parte del texto llega dos veces a la misma letra de la clave → produce la misma secuencia cifrada.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69280" y="1097280"/>
            <a:ext cx="3108960" cy="3383280"/>
          </a:xfrm>
          <a:prstGeom prst="rect">
            <a:avLst/>
          </a:prstGeom>
          <a:solidFill>
            <a:srgbClr val="0B2040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806440" y="1234440"/>
            <a:ext cx="28346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Conclusión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clave: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806440" y="1920240"/>
            <a:ext cx="28346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distancia entre dos secuencias repetidas es múltiplo de la longitud de la clave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943600" y="3474720"/>
            <a:ext cx="2560320" cy="64008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61888" y="3493008"/>
            <a:ext cx="2523744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dist = k × |clave|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41248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Los 3 pasos del algoritmo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182880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182880" y="1097280"/>
            <a:ext cx="2834640" cy="640080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292608" y="1115568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960120" y="1152144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Buscar repeticiones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320040" y="1874520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46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Recorre el texto cifrado e identifica todas las subcadenas de 3 o más caracteres que aparezcan más de una vez, registrando su posición.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20040" y="3794760"/>
            <a:ext cx="2560320" cy="54864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Ej: "ABC" → pos 0, 6, 12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172968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72968" y="1097280"/>
            <a:ext cx="2834640" cy="640080"/>
          </a:xfrm>
          <a:prstGeom prst="rect">
            <a:avLst/>
          </a:prstGeom>
          <a:solidFill>
            <a:srgbClr val="F7B731"/>
          </a:solidFill>
          <a:ln w="12700">
            <a:solidFill>
              <a:srgbClr val="F7B73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82696" y="1115568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950208" y="1152144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Calcular distancias y MCD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10128" y="1874520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46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 la distancia entre cada par de ocurrencias. Luego obtén el Máximo Común Divisor de todas las distancias.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310128" y="3794760"/>
            <a:ext cx="2560320" cy="54864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355848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Ej: MCD(6, 6, 12) = 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63056" y="1097280"/>
            <a:ext cx="28346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8F5"/>
            </a:solidFill>
            <a:prstDash val="solid"/>
          </a:ln>
          <a:effectLst>
            <a:outerShdw blurRad="1270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63056" y="1097280"/>
            <a:ext cx="2834640" cy="640080"/>
          </a:xfrm>
          <a:prstGeom prst="rect">
            <a:avLst/>
          </a:prstGeom>
          <a:solidFill>
            <a:srgbClr val="B06DFF"/>
          </a:solidFill>
          <a:ln w="12700">
            <a:solidFill>
              <a:srgbClr val="B06D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72784" y="1115568"/>
            <a:ext cx="64008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940296" y="1152144"/>
            <a:ext cx="19659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Análisis de frecuencia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300216" y="1874520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50" b="0" i="0" u="none" strike="noStrike" kern="1200" cap="none" spc="0" normalizeH="0" baseline="0" noProof="0" dirty="0">
                <a:ln>
                  <a:noFill/>
                </a:ln>
                <a:solidFill>
                  <a:srgbClr val="33446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 la longitud de clave conocida, divide el texto en grupos y descifra cada uno como un simple cifrado César.</a:t>
            </a:r>
            <a:endParaRPr kumimoji="0" lang="en-US" sz="12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300216" y="3794760"/>
            <a:ext cx="2560320" cy="548640"/>
          </a:xfrm>
          <a:prstGeom prst="rect">
            <a:avLst/>
          </a:prstGeom>
          <a:solidFill>
            <a:srgbClr val="EEF4FB"/>
          </a:solidFill>
          <a:ln w="12700">
            <a:solidFill>
              <a:srgbClr val="C5D9E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45936" y="3813048"/>
            <a:ext cx="24688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1A3A5C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Ej: Grupo 1 → letras 1, 7, 13...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365760" y="4892040"/>
            <a:ext cx="84124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 MCD revelará la longitud de la clave con alta probabilidad si el texto es suficientemente largo.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Ejemplo numérico completo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8412480" cy="566928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50976"/>
            <a:ext cx="22860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Texto cifrado →  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2651760" y="950976"/>
            <a:ext cx="992124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X Z Q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43884" y="950976"/>
            <a:ext cx="7086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B 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52544" y="950976"/>
            <a:ext cx="12755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P Q R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628132" y="950976"/>
            <a:ext cx="7086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B 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36792" y="950976"/>
            <a:ext cx="1275588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7A9BBD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T L S  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612380" y="950976"/>
            <a:ext cx="70866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7B731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 B C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169164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1 — Secuencias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029968"/>
            <a:ext cx="84124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48640" y="2048256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EC8E0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"ABC" aparece en posiciones: 0 · 6 · 12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5760" y="265176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2 — Distancias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2990088"/>
            <a:ext cx="8412480" cy="502920"/>
          </a:xfrm>
          <a:prstGeom prst="rect">
            <a:avLst/>
          </a:prstGeom>
          <a:solidFill>
            <a:srgbClr val="0D1F3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008376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EC8E0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6 - 0 = 6     12 - 6 = 6     12 - 0 = 12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65760" y="3611880"/>
            <a:ext cx="265176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C6D7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PASO 3 — MCD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65760" y="3950208"/>
            <a:ext cx="8412480" cy="502920"/>
          </a:xfrm>
          <a:prstGeom prst="rect">
            <a:avLst/>
          </a:prstGeom>
          <a:solidFill>
            <a:srgbClr val="0B2A40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48640" y="3968496"/>
            <a:ext cx="813816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MCD(6, 6, 12)  =  6   →   Clave de longitud 6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solidFill>
            <a:srgbClr val="00C6D7"/>
          </a:solidFill>
          <a:ln w="12700">
            <a:solidFill>
              <a:srgbClr val="00C6D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02920" y="4636008"/>
            <a:ext cx="82296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A0F1E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Ahora dividimos el texto en 6 grupos y aplicamos análisis de frecuencia a cada uno → encontramos la clave.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100" b="0" i="0" u="none" strike="noStrike" kern="0" cap="none" spc="300" normalizeH="0" baseline="0" noProof="0" dirty="0">
                <a:ln>
                  <a:noFill/>
                </a:ln>
                <a:solidFill>
                  <a:srgbClr val="00B4D8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IDEA CENTRAL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1920240"/>
          </a:xfrm>
          <a:prstGeom prst="rect">
            <a:avLst/>
          </a:prstGeom>
          <a:solidFill>
            <a:srgbClr val="0D2A52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77240" y="914400"/>
            <a:ext cx="7635240" cy="1737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1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"Si una misma secuencia de letras aparece varias veces en el texto cifrado, probablemente fue cifrada con la misma parte de la clave."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ADB5C6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Por lo tanto: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371600" y="3383280"/>
            <a:ext cx="6400800" cy="10972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1417320" y="3429000"/>
            <a:ext cx="63093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80F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 distancia entre repeticiones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80F24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 múltiplo de la longitud de la clave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1842</Words>
  <Application>Microsoft Office PowerPoint</Application>
  <PresentationFormat>Presentación en pantalla (16:9)</PresentationFormat>
  <Paragraphs>287</Paragraphs>
  <Slides>24</Slides>
  <Notes>24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24</vt:i4>
      </vt:variant>
    </vt:vector>
  </HeadingPairs>
  <TitlesOfParts>
    <vt:vector size="33" baseType="lpstr">
      <vt:lpstr>Aptos</vt:lpstr>
      <vt:lpstr>Arial</vt:lpstr>
      <vt:lpstr>Bell MT</vt:lpstr>
      <vt:lpstr>Calibri</vt:lpstr>
      <vt:lpstr>Century Schoolbook</vt:lpstr>
      <vt:lpstr>Consolas</vt:lpstr>
      <vt:lpstr>Georgia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Cifrado de Vigenère</dc:title>
  <dc:subject>PptxGenJS Presentation</dc:subject>
  <dc:creator>Fernando</dc:creator>
  <cp:lastModifiedBy>Fpl</cp:lastModifiedBy>
  <cp:revision>6</cp:revision>
  <dcterms:created xsi:type="dcterms:W3CDTF">2026-05-05T15:58:00Z</dcterms:created>
  <dcterms:modified xsi:type="dcterms:W3CDTF">2026-05-07T20:14:01Z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AFB1DB38DBEF46018A3CE66063620622_13</vt:lpwstr>
  </property>
  <property fmtid="{D5CDD505-2E9C-101B-9397-08002B2CF9AE}" pid="3" name="KSOProductBuildVer">
    <vt:lpwstr>3082-12.1.0.25242</vt:lpwstr>
  </property>
</Properties>
</file>